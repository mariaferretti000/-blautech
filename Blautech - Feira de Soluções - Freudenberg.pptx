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udio/m4a" Extension="m4a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entury Gothic Paneuropean Bold" charset="1" panose="020B0702020202020204"/>
      <p:regular r:id="rId25"/>
    </p:embeddedFont>
    <p:embeddedFont>
      <p:font typeface="Poppins Bold" charset="1" panose="00000800000000000000"/>
      <p:regular r:id="rId26"/>
    </p:embeddedFont>
    <p:embeddedFont>
      <p:font typeface="Poppins" charset="1" panose="00000500000000000000"/>
      <p:regular r:id="rId27"/>
    </p:embeddedFont>
    <p:embeddedFont>
      <p:font typeface="Century Gothic Paneuropean" charset="1" panose="020B0502020202020204"/>
      <p:regular r:id="rId30"/>
    </p:embeddedFont>
    <p:embeddedFont>
      <p:font typeface="Open Sans Bold" charset="1" panose="020B0806030504020204"/>
      <p:regular r:id="rId34"/>
    </p:embeddedFont>
    <p:embeddedFont>
      <p:font typeface="Open Sans" charset="1" panose="020B060603050402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19.svg" Type="http://schemas.openxmlformats.org/officeDocument/2006/relationships/image"/><Relationship Id="rId8" Target="../media/aAHMlno8nNA.m4a" Type="http://schemas.microsoft.com/office/2007/relationships/media"/><Relationship Id="rId9" Target="../media/aAHMlno8nNA.m4a" Type="http://schemas.openxmlformats.org/officeDocument/2006/relationships/audio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6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6.png" Type="http://schemas.openxmlformats.org/officeDocument/2006/relationships/image"/><Relationship Id="rId7" Target="../media/image3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.jpeg" Type="http://schemas.openxmlformats.org/officeDocument/2006/relationships/image"/><Relationship Id="rId6" Target="../media/image10.png" Type="http://schemas.openxmlformats.org/officeDocument/2006/relationships/image"/><Relationship Id="rId7" Target="../media/image6.png" Type="http://schemas.openxmlformats.org/officeDocument/2006/relationships/image"/><Relationship Id="rId8" Target="../media/image3.png" Type="http://schemas.openxmlformats.org/officeDocument/2006/relationships/image"/><Relationship Id="rId9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11.png" Type="http://schemas.openxmlformats.org/officeDocument/2006/relationships/image"/><Relationship Id="rId6" Target="../media/image9.png" Type="http://schemas.openxmlformats.org/officeDocument/2006/relationships/image"/><Relationship Id="rId7" Target="../media/image6.png" Type="http://schemas.openxmlformats.org/officeDocument/2006/relationships/image"/><Relationship Id="rId8" Target="../media/image3.png" Type="http://schemas.openxmlformats.org/officeDocument/2006/relationships/image"/><Relationship Id="rId9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3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media/image6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6.png" Type="http://schemas.openxmlformats.org/officeDocument/2006/relationships/image"/><Relationship Id="rId4" Target="../media/image1.jpe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3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7.png" Type="http://schemas.openxmlformats.org/officeDocument/2006/relationships/image"/><Relationship Id="rId4" Target="../media/image6.png" Type="http://schemas.openxmlformats.org/officeDocument/2006/relationships/image"/><Relationship Id="rId5" Target="../media/image1.jpe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8.png" Type="http://schemas.openxmlformats.org/officeDocument/2006/relationships/image"/><Relationship Id="rId4" Target="../media/image6.png" Type="http://schemas.openxmlformats.org/officeDocument/2006/relationships/image"/><Relationship Id="rId5" Target="../media/image1.jpe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0">
            <a:off x="11144936" y="2865434"/>
            <a:ext cx="8109175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8100000">
            <a:off x="7259764" y="4693044"/>
            <a:ext cx="1292595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8100000">
            <a:off x="9301563" y="4052888"/>
            <a:ext cx="1053384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8100000">
            <a:off x="9462449" y="3673869"/>
            <a:ext cx="10362095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8100000">
            <a:off x="10385146" y="4157662"/>
            <a:ext cx="9281093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62D2EF">
                    <a:alpha val="100000"/>
                  </a:srgbClr>
                </a:gs>
                <a:gs pos="10000">
                  <a:srgbClr val="62D2EF">
                    <a:alpha val="100000"/>
                  </a:srgbClr>
                </a:gs>
                <a:gs pos="100000">
                  <a:srgbClr val="05578D">
                    <a:alpha val="100000"/>
                  </a:srgbClr>
                </a:gs>
              </a:gsLst>
              <a:lin ang="612000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05577" y="2272379"/>
            <a:ext cx="11609613" cy="2670470"/>
            <a:chOff x="0" y="0"/>
            <a:chExt cx="15479484" cy="35606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79486" cy="3560629"/>
            </a:xfrm>
            <a:custGeom>
              <a:avLst/>
              <a:gdLst/>
              <a:ahLst/>
              <a:cxnLst/>
              <a:rect r="r" b="b" t="t" l="l"/>
              <a:pathLst>
                <a:path h="3560629" w="15479486">
                  <a:moveTo>
                    <a:pt x="0" y="0"/>
                  </a:moveTo>
                  <a:lnTo>
                    <a:pt x="15479486" y="0"/>
                  </a:lnTo>
                  <a:lnTo>
                    <a:pt x="15479486" y="3560629"/>
                  </a:lnTo>
                  <a:lnTo>
                    <a:pt x="0" y="35606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09" r="0" b="-347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5479484" cy="35606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b="true" sz="750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XIII FEIRA DE SOLUÇÕES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2703" y="224638"/>
            <a:ext cx="3350266" cy="1608125"/>
            <a:chOff x="0" y="0"/>
            <a:chExt cx="4467022" cy="2144166"/>
          </a:xfrm>
        </p:grpSpPr>
        <p:sp>
          <p:nvSpPr>
            <p:cNvPr name="Freeform 18" id="18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7006739" y="639152"/>
            <a:ext cx="1741085" cy="852177"/>
          </a:xfrm>
          <a:custGeom>
            <a:avLst/>
            <a:gdLst/>
            <a:ahLst/>
            <a:cxnLst/>
            <a:rect r="r" b="b" t="t" l="l"/>
            <a:pathLst>
              <a:path h="852177" w="1741085">
                <a:moveTo>
                  <a:pt x="0" y="0"/>
                </a:moveTo>
                <a:lnTo>
                  <a:pt x="1741085" y="0"/>
                </a:lnTo>
                <a:lnTo>
                  <a:pt x="1741085" y="852177"/>
                </a:lnTo>
                <a:lnTo>
                  <a:pt x="0" y="852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05577" y="5037688"/>
            <a:ext cx="1121455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ACABAMENTO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5577" y="8464086"/>
            <a:ext cx="10156431" cy="72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8"/>
              </a:lnSpc>
            </a:pPr>
            <a:r>
              <a:rPr lang="en-US" b="true" sz="4200">
                <a:solidFill>
                  <a:srgbClr val="F2F2F2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BLAUTECH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48851" y="711250"/>
            <a:ext cx="8410449" cy="43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b="true" sz="3042" spc="-164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48851" y="1166006"/>
            <a:ext cx="2068025" cy="28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2043" spc="-110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pic>
        <p:nvPicPr>
          <p:cNvPr name="Picture 25" id="25">
            <a:hlinkClick action="ppaction://media"/>
          </p:cNvPr>
          <p:cNvPicPr>
            <a:picLocks noChangeAspect="true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>
                  <p14:trim st="1250.0000" end="1479.000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25"/>
                </p:tgtEl>
              </p:cBhvr>
            </p:cmd>
            <p:audio>
              <p:cMediaNode vol="100000" showWhenStopped="false">
                <p:cTn/>
                <p:tgtEl>
                  <p:spTgt spid="25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844321" y="732781"/>
            <a:ext cx="13430631" cy="1191711"/>
            <a:chOff x="0" y="0"/>
            <a:chExt cx="17907508" cy="15889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907512" cy="1588950"/>
            </a:xfrm>
            <a:custGeom>
              <a:avLst/>
              <a:gdLst/>
              <a:ahLst/>
              <a:cxnLst/>
              <a:rect r="r" b="b" t="t" l="l"/>
              <a:pathLst>
                <a:path h="1588950" w="17907512">
                  <a:moveTo>
                    <a:pt x="0" y="0"/>
                  </a:moveTo>
                  <a:lnTo>
                    <a:pt x="17907512" y="0"/>
                  </a:lnTo>
                  <a:lnTo>
                    <a:pt x="17907512" y="1588950"/>
                  </a:lnTo>
                  <a:lnTo>
                    <a:pt x="0" y="1588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96" r="0" b="-16959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7907508" cy="158894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071"/>
                </a:lnSpc>
              </a:pPr>
              <a:r>
                <a:rPr lang="en-US" b="true" sz="7559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INTEGRANTES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762907" y="2076892"/>
            <a:ext cx="15593458" cy="5914472"/>
          </a:xfrm>
          <a:custGeom>
            <a:avLst/>
            <a:gdLst/>
            <a:ahLst/>
            <a:cxnLst/>
            <a:rect r="r" b="b" t="t" l="l"/>
            <a:pathLst>
              <a:path h="5914472" w="15593458">
                <a:moveTo>
                  <a:pt x="0" y="0"/>
                </a:moveTo>
                <a:lnTo>
                  <a:pt x="15593459" y="0"/>
                </a:lnTo>
                <a:lnTo>
                  <a:pt x="15593459" y="5914472"/>
                </a:lnTo>
                <a:lnTo>
                  <a:pt x="0" y="5914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31" t="-40840" r="-2878" b="-1706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920062" y="9342387"/>
            <a:ext cx="14723374" cy="56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2"/>
              </a:lnSpc>
              <a:spcBef>
                <a:spcPct val="0"/>
              </a:spcBef>
            </a:pPr>
            <a:r>
              <a:rPr lang="en-US" b="true" sz="323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Link GitHub: https://github.com/Mariaferretti000/-Blautech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76948" y="262291"/>
            <a:ext cx="2549074" cy="1223553"/>
            <a:chOff x="0" y="0"/>
            <a:chExt cx="4467022" cy="2144166"/>
          </a:xfrm>
        </p:grpSpPr>
        <p:sp>
          <p:nvSpPr>
            <p:cNvPr name="Freeform 13" id="13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670412" y="-13471"/>
            <a:ext cx="1126818" cy="551523"/>
          </a:xfrm>
          <a:custGeom>
            <a:avLst/>
            <a:gdLst/>
            <a:ahLst/>
            <a:cxnLst/>
            <a:rect r="r" b="b" t="t" l="l"/>
            <a:pathLst>
              <a:path h="551523" w="1126818">
                <a:moveTo>
                  <a:pt x="0" y="0"/>
                </a:moveTo>
                <a:lnTo>
                  <a:pt x="1126818" y="0"/>
                </a:lnTo>
                <a:lnTo>
                  <a:pt x="1126818" y="551523"/>
                </a:lnTo>
                <a:lnTo>
                  <a:pt x="0" y="551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62614" y="39911"/>
            <a:ext cx="5443183" cy="27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b="true" sz="1969" spc="-106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62614" y="324701"/>
            <a:ext cx="1338411" cy="1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22" spc="-71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89263" y="3283878"/>
            <a:ext cx="11174473" cy="287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4"/>
              </a:lnSpc>
            </a:pPr>
            <a:r>
              <a:rPr lang="en-US" sz="38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Dimensionar o estoque intermediário (WIP) para 1,5 dia.</a:t>
            </a:r>
          </a:p>
          <a:p>
            <a:pPr algn="l">
              <a:lnSpc>
                <a:spcPts val="4504"/>
              </a:lnSpc>
            </a:pPr>
          </a:p>
          <a:p>
            <a:pPr algn="l">
              <a:lnSpc>
                <a:spcPts val="4504"/>
              </a:lnSpc>
            </a:pPr>
            <a:r>
              <a:rPr lang="en-US" sz="38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Reduzindo os custos de armazenamento entre os processos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428685" y="832637"/>
            <a:ext cx="13430631" cy="1191711"/>
            <a:chOff x="0" y="0"/>
            <a:chExt cx="17907508" cy="15889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07512" cy="1588950"/>
            </a:xfrm>
            <a:custGeom>
              <a:avLst/>
              <a:gdLst/>
              <a:ahLst/>
              <a:cxnLst/>
              <a:rect r="r" b="b" t="t" l="l"/>
              <a:pathLst>
                <a:path h="1588950" w="17907512">
                  <a:moveTo>
                    <a:pt x="0" y="0"/>
                  </a:moveTo>
                  <a:lnTo>
                    <a:pt x="17907512" y="0"/>
                  </a:lnTo>
                  <a:lnTo>
                    <a:pt x="17907512" y="1588950"/>
                  </a:lnTo>
                  <a:lnTo>
                    <a:pt x="0" y="1588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96" r="0" b="-16959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0"/>
              <a:ext cx="17907508" cy="149369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845"/>
                </a:lnSpc>
              </a:pPr>
              <a:r>
                <a:rPr lang="en-US" b="true" sz="819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O DESAFIO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6948" y="262291"/>
            <a:ext cx="2549074" cy="1223553"/>
            <a:chOff x="0" y="0"/>
            <a:chExt cx="4467022" cy="2144166"/>
          </a:xfrm>
        </p:grpSpPr>
        <p:sp>
          <p:nvSpPr>
            <p:cNvPr name="Freeform 12" id="12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 flipH="true">
            <a:off x="146953" y="7782915"/>
            <a:ext cx="1383509" cy="138350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>
            <a:off x="-2956613" y="8123427"/>
            <a:ext cx="4487073" cy="4487073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-1328629" y="8265516"/>
            <a:ext cx="2859089" cy="285908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>
            <a:off x="-1116702" y="8020248"/>
            <a:ext cx="2661445" cy="266144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>
            <a:off x="-403115" y="8848125"/>
            <a:ext cx="1947865" cy="194786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2670412" y="-13471"/>
            <a:ext cx="1126818" cy="551523"/>
          </a:xfrm>
          <a:custGeom>
            <a:avLst/>
            <a:gdLst/>
            <a:ahLst/>
            <a:cxnLst/>
            <a:rect r="r" b="b" t="t" l="l"/>
            <a:pathLst>
              <a:path h="551523" w="1126818">
                <a:moveTo>
                  <a:pt x="0" y="0"/>
                </a:moveTo>
                <a:lnTo>
                  <a:pt x="1126818" y="0"/>
                </a:lnTo>
                <a:lnTo>
                  <a:pt x="1126818" y="551523"/>
                </a:lnTo>
                <a:lnTo>
                  <a:pt x="0" y="5515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862614" y="39911"/>
            <a:ext cx="5443183" cy="27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b="true" sz="1969" spc="-106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62614" y="324701"/>
            <a:ext cx="1338411" cy="1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22" spc="-71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6883468" y="6191898"/>
            <a:ext cx="1383509" cy="138350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13779902" y="6532410"/>
            <a:ext cx="4487073" cy="4487073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5407886" y="6674499"/>
            <a:ext cx="2859089" cy="285908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15619813" y="6429230"/>
            <a:ext cx="2661445" cy="266144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16333400" y="7257108"/>
            <a:ext cx="1947865" cy="194786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639901" y="2913731"/>
            <a:ext cx="15008197" cy="4771852"/>
            <a:chOff x="0" y="0"/>
            <a:chExt cx="20010930" cy="63624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010927" cy="6362469"/>
            </a:xfrm>
            <a:custGeom>
              <a:avLst/>
              <a:gdLst/>
              <a:ahLst/>
              <a:cxnLst/>
              <a:rect r="r" b="b" t="t" l="l"/>
              <a:pathLst>
                <a:path h="6362469" w="20010927">
                  <a:moveTo>
                    <a:pt x="0" y="0"/>
                  </a:moveTo>
                  <a:lnTo>
                    <a:pt x="20010927" y="0"/>
                  </a:lnTo>
                  <a:lnTo>
                    <a:pt x="20010927" y="6362469"/>
                  </a:lnTo>
                  <a:lnTo>
                    <a:pt x="0" y="63624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494" t="0" r="-37695" b="-10124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010930" cy="6410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26"/>
                </a:lnSpc>
              </a:pPr>
              <a:r>
                <a:rPr lang="en-US" b="true" sz="270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ERGONOMIA</a:t>
              </a:r>
            </a:p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M</a:t>
              </a:r>
              <a:r>
                <a:rPr lang="en-US" sz="24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elhorar a ergonomia do operador no processo de acabamento, reduzindo movimentos repetitivos, esforços excessivos e posturas inadequadas, para aumentar a segurança, o conforto e a eficiência no trabalho.</a:t>
              </a:r>
            </a:p>
            <a:p>
              <a:pPr algn="ctr">
                <a:lnSpc>
                  <a:spcPts val="3726"/>
                </a:lnSpc>
              </a:pPr>
              <a:r>
                <a:rPr lang="en-US" b="true" sz="270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LAYOUT</a:t>
              </a:r>
            </a:p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Ot</a:t>
              </a:r>
              <a:r>
                <a:rPr lang="en-US" sz="24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imizar o layout dos processos, aproximando as operações e criando um fluxo mais contínuo, reduzindo deslocamentos e aumentando a produtividade.</a:t>
              </a:r>
            </a:p>
            <a:p>
              <a:pPr algn="ctr">
                <a:lnSpc>
                  <a:spcPts val="3726"/>
                </a:lnSpc>
              </a:pPr>
              <a:r>
                <a:rPr lang="en-US" b="true" sz="270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LEAN</a:t>
              </a:r>
            </a:p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Eliminar </a:t>
              </a:r>
              <a:r>
                <a:rPr lang="en-US" sz="24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desperdícios e focar apenas nas atividades que agregam valor ao cliente, melhorando a eficiência e a produtividade do processo.</a:t>
              </a:r>
            </a:p>
            <a:p>
              <a:pPr algn="ctr">
                <a:lnSpc>
                  <a:spcPts val="289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76948" y="262291"/>
            <a:ext cx="2549074" cy="1223553"/>
            <a:chOff x="0" y="0"/>
            <a:chExt cx="4467022" cy="2144166"/>
          </a:xfrm>
        </p:grpSpPr>
        <p:sp>
          <p:nvSpPr>
            <p:cNvPr name="Freeform 11" id="11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H="true">
            <a:off x="1215511" y="-1576709"/>
            <a:ext cx="4487073" cy="4487073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2843495" y="-1434621"/>
            <a:ext cx="2859089" cy="285908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>
            <a:off x="3055422" y="-1679889"/>
            <a:ext cx="2661445" cy="266144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3769009" y="-852012"/>
            <a:ext cx="1947865" cy="194786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2428684" y="315176"/>
            <a:ext cx="13430631" cy="1685525"/>
            <a:chOff x="0" y="0"/>
            <a:chExt cx="17907508" cy="22473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907512" cy="2247369"/>
            </a:xfrm>
            <a:custGeom>
              <a:avLst/>
              <a:gdLst/>
              <a:ahLst/>
              <a:cxnLst/>
              <a:rect r="r" b="b" t="t" l="l"/>
              <a:pathLst>
                <a:path h="2247369" w="17907512">
                  <a:moveTo>
                    <a:pt x="0" y="0"/>
                  </a:moveTo>
                  <a:lnTo>
                    <a:pt x="17907512" y="0"/>
                  </a:lnTo>
                  <a:lnTo>
                    <a:pt x="17907512" y="2247369"/>
                  </a:lnTo>
                  <a:lnTo>
                    <a:pt x="0" y="22473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09" r="0" b="-9061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0"/>
              <a:ext cx="17907508" cy="215211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845"/>
                </a:lnSpc>
              </a:pPr>
              <a:r>
                <a:rPr lang="en-US" b="true" sz="819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PREMISSAS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2670412" y="-13471"/>
            <a:ext cx="1126818" cy="551523"/>
          </a:xfrm>
          <a:custGeom>
            <a:avLst/>
            <a:gdLst/>
            <a:ahLst/>
            <a:cxnLst/>
            <a:rect r="r" b="b" t="t" l="l"/>
            <a:pathLst>
              <a:path h="551523" w="1126818">
                <a:moveTo>
                  <a:pt x="0" y="0"/>
                </a:moveTo>
                <a:lnTo>
                  <a:pt x="1126818" y="0"/>
                </a:lnTo>
                <a:lnTo>
                  <a:pt x="1126818" y="551523"/>
                </a:lnTo>
                <a:lnTo>
                  <a:pt x="0" y="5515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862614" y="39911"/>
            <a:ext cx="5443183" cy="27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b="true" sz="1969" spc="-106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62614" y="324701"/>
            <a:ext cx="1338411" cy="1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22" spc="-71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428651" y="700942"/>
            <a:ext cx="13430698" cy="1191597"/>
            <a:chOff x="0" y="0"/>
            <a:chExt cx="17907597" cy="15887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907600" cy="1588800"/>
            </a:xfrm>
            <a:custGeom>
              <a:avLst/>
              <a:gdLst/>
              <a:ahLst/>
              <a:cxnLst/>
              <a:rect r="r" b="b" t="t" l="l"/>
              <a:pathLst>
                <a:path h="1588800" w="17907600">
                  <a:moveTo>
                    <a:pt x="0" y="0"/>
                  </a:moveTo>
                  <a:lnTo>
                    <a:pt x="17907600" y="0"/>
                  </a:lnTo>
                  <a:lnTo>
                    <a:pt x="17907600" y="1588800"/>
                  </a:lnTo>
                  <a:lnTo>
                    <a:pt x="0" y="158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618" r="0" b="-1696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0"/>
              <a:ext cx="17907597" cy="14935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845"/>
                </a:lnSpc>
              </a:pPr>
              <a:r>
                <a:rPr lang="en-US" b="true" sz="819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TECNOLOGIAS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45602" y="2079298"/>
            <a:ext cx="14706562" cy="7441654"/>
            <a:chOff x="0" y="0"/>
            <a:chExt cx="19608749" cy="99222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608800" cy="9922256"/>
            </a:xfrm>
            <a:custGeom>
              <a:avLst/>
              <a:gdLst/>
              <a:ahLst/>
              <a:cxnLst/>
              <a:rect r="r" b="b" t="t" l="l"/>
              <a:pathLst>
                <a:path h="9922256" w="19608800">
                  <a:moveTo>
                    <a:pt x="0" y="0"/>
                  </a:moveTo>
                  <a:lnTo>
                    <a:pt x="19608800" y="0"/>
                  </a:lnTo>
                  <a:lnTo>
                    <a:pt x="19608800" y="9922256"/>
                  </a:lnTo>
                  <a:lnTo>
                    <a:pt x="0" y="992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659" r="0" b="-208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76948" y="262291"/>
            <a:ext cx="2549074" cy="1223553"/>
            <a:chOff x="0" y="0"/>
            <a:chExt cx="4467022" cy="2144166"/>
          </a:xfrm>
        </p:grpSpPr>
        <p:sp>
          <p:nvSpPr>
            <p:cNvPr name="Freeform 13" id="13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670412" y="-13471"/>
            <a:ext cx="1126818" cy="551523"/>
          </a:xfrm>
          <a:custGeom>
            <a:avLst/>
            <a:gdLst/>
            <a:ahLst/>
            <a:cxnLst/>
            <a:rect r="r" b="b" t="t" l="l"/>
            <a:pathLst>
              <a:path h="551523" w="1126818">
                <a:moveTo>
                  <a:pt x="0" y="0"/>
                </a:moveTo>
                <a:lnTo>
                  <a:pt x="1126818" y="0"/>
                </a:lnTo>
                <a:lnTo>
                  <a:pt x="1126818" y="551523"/>
                </a:lnTo>
                <a:lnTo>
                  <a:pt x="0" y="551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62614" y="39911"/>
            <a:ext cx="5443183" cy="27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b="true" sz="1969" spc="-106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62614" y="324701"/>
            <a:ext cx="1338411" cy="1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22" spc="-71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205873" y="20861"/>
            <a:ext cx="9876253" cy="2465062"/>
            <a:chOff x="0" y="0"/>
            <a:chExt cx="13168338" cy="3286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68334" cy="3286754"/>
            </a:xfrm>
            <a:custGeom>
              <a:avLst/>
              <a:gdLst/>
              <a:ahLst/>
              <a:cxnLst/>
              <a:rect r="r" b="b" t="t" l="l"/>
              <a:pathLst>
                <a:path h="3286754" w="13168334">
                  <a:moveTo>
                    <a:pt x="0" y="0"/>
                  </a:moveTo>
                  <a:lnTo>
                    <a:pt x="13168334" y="0"/>
                  </a:lnTo>
                  <a:lnTo>
                    <a:pt x="13168334" y="3286754"/>
                  </a:lnTo>
                  <a:lnTo>
                    <a:pt x="0" y="32867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04" r="41783" b="211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3168338" cy="328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599"/>
                </a:lnSpc>
              </a:pPr>
              <a:r>
                <a:rPr lang="en-US" b="true" sz="5499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VSM </a:t>
              </a:r>
            </a:p>
            <a:p>
              <a:pPr algn="ctr">
                <a:lnSpc>
                  <a:spcPts val="6599"/>
                </a:lnSpc>
              </a:pPr>
              <a:r>
                <a:rPr lang="en-US" b="true" sz="5499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TEB ➡️Acabamento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517845" y="4159018"/>
            <a:ext cx="8910941" cy="3023391"/>
          </a:xfrm>
          <a:custGeom>
            <a:avLst/>
            <a:gdLst/>
            <a:ahLst/>
            <a:cxnLst/>
            <a:rect r="r" b="b" t="t" l="l"/>
            <a:pathLst>
              <a:path h="3023391" w="8910941">
                <a:moveTo>
                  <a:pt x="0" y="0"/>
                </a:moveTo>
                <a:lnTo>
                  <a:pt x="8910941" y="0"/>
                </a:lnTo>
                <a:lnTo>
                  <a:pt x="8910941" y="3023391"/>
                </a:lnTo>
                <a:lnTo>
                  <a:pt x="0" y="30233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788" t="-2491" r="-3031" b="-12457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631667" y="4437858"/>
            <a:ext cx="8627633" cy="2486767"/>
            <a:chOff x="0" y="0"/>
            <a:chExt cx="12758962" cy="36775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59013" cy="3677539"/>
            </a:xfrm>
            <a:custGeom>
              <a:avLst/>
              <a:gdLst/>
              <a:ahLst/>
              <a:cxnLst/>
              <a:rect r="r" b="b" t="t" l="l"/>
              <a:pathLst>
                <a:path h="3677539" w="12759013">
                  <a:moveTo>
                    <a:pt x="0" y="0"/>
                  </a:moveTo>
                  <a:lnTo>
                    <a:pt x="12759013" y="0"/>
                  </a:lnTo>
                  <a:lnTo>
                    <a:pt x="12759013" y="3677539"/>
                  </a:lnTo>
                  <a:lnTo>
                    <a:pt x="0" y="3677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99" r="0" b="-80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3257555"/>
            <a:ext cx="7356103" cy="50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Dados de saída </a:t>
            </a:r>
          </a:p>
          <a:p>
            <a:pPr algn="l">
              <a:lnSpc>
                <a:spcPts val="4480"/>
              </a:lnSpc>
            </a:pPr>
          </a:p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Estoque de segurança: 16.000 peças </a:t>
            </a:r>
          </a:p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Produção diaria: 18.000 peças </a:t>
            </a:r>
          </a:p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8.000 peças são enviadas diretamente ao cliente final</a:t>
            </a:r>
          </a:p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10.000 peças abastecem o acabamento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76948" y="262291"/>
            <a:ext cx="2549074" cy="1223553"/>
            <a:chOff x="0" y="0"/>
            <a:chExt cx="4467022" cy="2144166"/>
          </a:xfrm>
        </p:grpSpPr>
        <p:sp>
          <p:nvSpPr>
            <p:cNvPr name="Freeform 15" id="15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-1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2670412" y="-13471"/>
            <a:ext cx="1126818" cy="551523"/>
          </a:xfrm>
          <a:custGeom>
            <a:avLst/>
            <a:gdLst/>
            <a:ahLst/>
            <a:cxnLst/>
            <a:rect r="r" b="b" t="t" l="l"/>
            <a:pathLst>
              <a:path h="551523" w="1126818">
                <a:moveTo>
                  <a:pt x="0" y="0"/>
                </a:moveTo>
                <a:lnTo>
                  <a:pt x="1126818" y="0"/>
                </a:lnTo>
                <a:lnTo>
                  <a:pt x="1126818" y="551523"/>
                </a:lnTo>
                <a:lnTo>
                  <a:pt x="0" y="5515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862614" y="39911"/>
            <a:ext cx="5443183" cy="27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b="true" sz="1969" spc="-106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62614" y="324701"/>
            <a:ext cx="1338411" cy="1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22" spc="-71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181515" y="6491508"/>
            <a:ext cx="10129424" cy="3023391"/>
          </a:xfrm>
          <a:custGeom>
            <a:avLst/>
            <a:gdLst/>
            <a:ahLst/>
            <a:cxnLst/>
            <a:rect r="r" b="b" t="t" l="l"/>
            <a:pathLst>
              <a:path h="3023391" w="10129424">
                <a:moveTo>
                  <a:pt x="0" y="0"/>
                </a:moveTo>
                <a:lnTo>
                  <a:pt x="10129424" y="0"/>
                </a:lnTo>
                <a:lnTo>
                  <a:pt x="10129424" y="3023391"/>
                </a:lnTo>
                <a:lnTo>
                  <a:pt x="0" y="30233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449" t="-3751" r="0" b="-13956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536943" y="6624121"/>
            <a:ext cx="9418568" cy="2758164"/>
            <a:chOff x="0" y="0"/>
            <a:chExt cx="12558090" cy="36775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58141" cy="3677539"/>
            </a:xfrm>
            <a:custGeom>
              <a:avLst/>
              <a:gdLst/>
              <a:ahLst/>
              <a:cxnLst/>
              <a:rect r="r" b="b" t="t" l="l"/>
              <a:pathLst>
                <a:path h="3677539" w="12558141">
                  <a:moveTo>
                    <a:pt x="0" y="0"/>
                  </a:moveTo>
                  <a:lnTo>
                    <a:pt x="12558141" y="0"/>
                  </a:lnTo>
                  <a:lnTo>
                    <a:pt x="12558141" y="3677539"/>
                  </a:lnTo>
                  <a:lnTo>
                    <a:pt x="0" y="3677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81515" y="-256333"/>
            <a:ext cx="11461708" cy="2260800"/>
            <a:chOff x="0" y="0"/>
            <a:chExt cx="15282278" cy="30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82278" cy="3014404"/>
            </a:xfrm>
            <a:custGeom>
              <a:avLst/>
              <a:gdLst/>
              <a:ahLst/>
              <a:cxnLst/>
              <a:rect r="r" b="b" t="t" l="l"/>
              <a:pathLst>
                <a:path h="3014404" w="15282278">
                  <a:moveTo>
                    <a:pt x="0" y="0"/>
                  </a:moveTo>
                  <a:lnTo>
                    <a:pt x="15282278" y="0"/>
                  </a:lnTo>
                  <a:lnTo>
                    <a:pt x="15282278" y="3014404"/>
                  </a:lnTo>
                  <a:lnTo>
                    <a:pt x="0" y="30144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332" r="-11690" b="-603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5282278" cy="30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ACABAMENTO - MIX DE PRODUTOS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012376" y="1646955"/>
            <a:ext cx="4951281" cy="4835841"/>
            <a:chOff x="0" y="0"/>
            <a:chExt cx="8054682" cy="78668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54667" cy="7866873"/>
            </a:xfrm>
            <a:custGeom>
              <a:avLst/>
              <a:gdLst/>
              <a:ahLst/>
              <a:cxnLst/>
              <a:rect r="r" b="b" t="t" l="l"/>
              <a:pathLst>
                <a:path h="7866873" w="8054667">
                  <a:moveTo>
                    <a:pt x="0" y="0"/>
                  </a:moveTo>
                  <a:lnTo>
                    <a:pt x="8054667" y="0"/>
                  </a:lnTo>
                  <a:lnTo>
                    <a:pt x="8054667" y="7866873"/>
                  </a:lnTo>
                  <a:lnTo>
                    <a:pt x="0" y="7866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781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428911" y="1646955"/>
            <a:ext cx="4926919" cy="4835841"/>
            <a:chOff x="0" y="0"/>
            <a:chExt cx="8015051" cy="78668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15036" cy="7866873"/>
            </a:xfrm>
            <a:custGeom>
              <a:avLst/>
              <a:gdLst/>
              <a:ahLst/>
              <a:cxnLst/>
              <a:rect r="r" b="b" t="t" l="l"/>
              <a:pathLst>
                <a:path h="7866873" w="8015036">
                  <a:moveTo>
                    <a:pt x="0" y="0"/>
                  </a:moveTo>
                  <a:lnTo>
                    <a:pt x="8015036" y="0"/>
                  </a:lnTo>
                  <a:lnTo>
                    <a:pt x="8015036" y="7866873"/>
                  </a:lnTo>
                  <a:lnTo>
                    <a:pt x="0" y="7866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7" t="0" r="-118611" b="0"/>
              </a:stretch>
            </a:blipFill>
          </p:spPr>
        </p:sp>
      </p:grpSp>
      <p:sp>
        <p:nvSpPr>
          <p:cNvPr name="AutoShape 17" id="17"/>
          <p:cNvSpPr/>
          <p:nvPr/>
        </p:nvSpPr>
        <p:spPr>
          <a:xfrm flipV="true">
            <a:off x="-622300" y="8048898"/>
            <a:ext cx="1473035" cy="1287775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-599499" y="7336635"/>
            <a:ext cx="2150984" cy="166029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-636408" y="6885695"/>
            <a:ext cx="3044099" cy="2661248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-686384" y="7601105"/>
            <a:ext cx="2833665" cy="2477281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-601706" y="7003310"/>
            <a:ext cx="2073910" cy="1813078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276948" y="262291"/>
            <a:ext cx="2549074" cy="1223553"/>
            <a:chOff x="0" y="0"/>
            <a:chExt cx="4467022" cy="2144166"/>
          </a:xfrm>
        </p:grpSpPr>
        <p:sp>
          <p:nvSpPr>
            <p:cNvPr name="Freeform 23" id="23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-1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2670412" y="-13471"/>
            <a:ext cx="1126818" cy="551523"/>
          </a:xfrm>
          <a:custGeom>
            <a:avLst/>
            <a:gdLst/>
            <a:ahLst/>
            <a:cxnLst/>
            <a:rect r="r" b="b" t="t" l="l"/>
            <a:pathLst>
              <a:path h="551523" w="1126818">
                <a:moveTo>
                  <a:pt x="0" y="0"/>
                </a:moveTo>
                <a:lnTo>
                  <a:pt x="1126818" y="0"/>
                </a:lnTo>
                <a:lnTo>
                  <a:pt x="1126818" y="551523"/>
                </a:lnTo>
                <a:lnTo>
                  <a:pt x="0" y="5515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862614" y="39911"/>
            <a:ext cx="5443183" cy="27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b="true" sz="1969" spc="-106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62614" y="324701"/>
            <a:ext cx="1338411" cy="1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22" spc="-71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359131" y="-101700"/>
            <a:ext cx="12801600" cy="2260800"/>
            <a:chOff x="0" y="0"/>
            <a:chExt cx="17068800" cy="30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3014404"/>
            </a:xfrm>
            <a:custGeom>
              <a:avLst/>
              <a:gdLst/>
              <a:ahLst/>
              <a:cxnLst/>
              <a:rect r="r" b="b" t="t" l="l"/>
              <a:pathLst>
                <a:path h="3014404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3014404"/>
                  </a:lnTo>
                  <a:lnTo>
                    <a:pt x="0" y="30144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32" r="0" b="-6033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7068800" cy="30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CLIENTE FINAL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759931" y="3631804"/>
            <a:ext cx="8911341" cy="2828498"/>
          </a:xfrm>
          <a:custGeom>
            <a:avLst/>
            <a:gdLst/>
            <a:ahLst/>
            <a:cxnLst/>
            <a:rect r="r" b="b" t="t" l="l"/>
            <a:pathLst>
              <a:path h="2828498" w="8911341">
                <a:moveTo>
                  <a:pt x="0" y="0"/>
                </a:moveTo>
                <a:lnTo>
                  <a:pt x="8911340" y="0"/>
                </a:lnTo>
                <a:lnTo>
                  <a:pt x="8911340" y="2828498"/>
                </a:lnTo>
                <a:lnTo>
                  <a:pt x="0" y="2828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050" t="-7455" r="0" b="-18363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36107" y="2668895"/>
            <a:ext cx="7423824" cy="4949211"/>
            <a:chOff x="0" y="0"/>
            <a:chExt cx="12547600" cy="83650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47600" cy="8365109"/>
            </a:xfrm>
            <a:custGeom>
              <a:avLst/>
              <a:gdLst/>
              <a:ahLst/>
              <a:cxnLst/>
              <a:rect r="r" b="b" t="t" l="l"/>
              <a:pathLst>
                <a:path h="8365109" w="12547600">
                  <a:moveTo>
                    <a:pt x="0" y="0"/>
                  </a:moveTo>
                  <a:lnTo>
                    <a:pt x="12547600" y="0"/>
                  </a:lnTo>
                  <a:lnTo>
                    <a:pt x="12547600" y="8365109"/>
                  </a:lnTo>
                  <a:lnTo>
                    <a:pt x="0" y="8365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0" y="3895319"/>
            <a:ext cx="8400561" cy="2301468"/>
            <a:chOff x="0" y="0"/>
            <a:chExt cx="12558090" cy="34404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58141" cy="3440478"/>
            </a:xfrm>
            <a:custGeom>
              <a:avLst/>
              <a:gdLst/>
              <a:ahLst/>
              <a:cxnLst/>
              <a:rect r="r" b="b" t="t" l="l"/>
              <a:pathLst>
                <a:path h="3440478" w="12558141">
                  <a:moveTo>
                    <a:pt x="0" y="0"/>
                  </a:moveTo>
                  <a:lnTo>
                    <a:pt x="12558141" y="0"/>
                  </a:lnTo>
                  <a:lnTo>
                    <a:pt x="12558141" y="3440478"/>
                  </a:lnTo>
                  <a:lnTo>
                    <a:pt x="0" y="3440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445" r="0" b="-344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76948" y="262291"/>
            <a:ext cx="2549074" cy="1223553"/>
            <a:chOff x="0" y="0"/>
            <a:chExt cx="4467022" cy="2144166"/>
          </a:xfrm>
        </p:grpSpPr>
        <p:sp>
          <p:nvSpPr>
            <p:cNvPr name="Freeform 16" id="16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-1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2670412" y="-13471"/>
            <a:ext cx="1126818" cy="551523"/>
          </a:xfrm>
          <a:custGeom>
            <a:avLst/>
            <a:gdLst/>
            <a:ahLst/>
            <a:cxnLst/>
            <a:rect r="r" b="b" t="t" l="l"/>
            <a:pathLst>
              <a:path h="551523" w="1126818">
                <a:moveTo>
                  <a:pt x="0" y="0"/>
                </a:moveTo>
                <a:lnTo>
                  <a:pt x="1126818" y="0"/>
                </a:lnTo>
                <a:lnTo>
                  <a:pt x="1126818" y="551523"/>
                </a:lnTo>
                <a:lnTo>
                  <a:pt x="0" y="5515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862614" y="39911"/>
            <a:ext cx="5443183" cy="27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b="true" sz="1969" spc="-106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62614" y="324701"/>
            <a:ext cx="1338411" cy="1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22" spc="-71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6419136" y="5214012"/>
            <a:ext cx="4487073" cy="4487073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18047120" y="5356101"/>
            <a:ext cx="2859089" cy="285908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8259047" y="5110832"/>
            <a:ext cx="2661445" cy="266144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718705" y="-203831"/>
            <a:ext cx="10850591" cy="2465062"/>
            <a:chOff x="0" y="0"/>
            <a:chExt cx="14467454" cy="3286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467461" cy="3286755"/>
            </a:xfrm>
            <a:custGeom>
              <a:avLst/>
              <a:gdLst/>
              <a:ahLst/>
              <a:cxnLst/>
              <a:rect r="r" b="b" t="t" l="l"/>
              <a:pathLst>
                <a:path h="3286755" w="14467461">
                  <a:moveTo>
                    <a:pt x="0" y="0"/>
                  </a:moveTo>
                  <a:lnTo>
                    <a:pt x="14467461" y="0"/>
                  </a:lnTo>
                  <a:lnTo>
                    <a:pt x="14467461" y="3286755"/>
                  </a:lnTo>
                  <a:lnTo>
                    <a:pt x="0" y="32867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98" r="-61874" b="-1096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4467454" cy="328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71"/>
                </a:lnSpc>
              </a:pPr>
              <a:r>
                <a:rPr lang="en-US" b="true" sz="5059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Critério para definição do estoque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6948" y="262291"/>
            <a:ext cx="2246289" cy="1078217"/>
            <a:chOff x="0" y="0"/>
            <a:chExt cx="4467022" cy="2144166"/>
          </a:xfrm>
        </p:grpSpPr>
        <p:sp>
          <p:nvSpPr>
            <p:cNvPr name="Freeform 9" id="9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0236" y="3169155"/>
            <a:ext cx="8103764" cy="598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Premissas utilizadas:</a:t>
            </a:r>
          </a:p>
          <a:p>
            <a:pPr algn="ctr">
              <a:lnSpc>
                <a:spcPts val="3329"/>
              </a:lnSpc>
              <a:spcBef>
                <a:spcPct val="0"/>
              </a:spcBef>
            </a:pPr>
          </a:p>
          <a:p>
            <a:pPr algn="l" marL="669289" indent="-334645" lvl="1">
              <a:lnSpc>
                <a:spcPts val="4556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Produção média do acabamento como referência.</a:t>
            </a:r>
          </a:p>
          <a:p>
            <a:pPr algn="l" marL="669289" indent="-334645" lvl="1">
              <a:lnSpc>
                <a:spcPts val="4556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Necessidade de manter a produção sem interrupções.</a:t>
            </a:r>
          </a:p>
          <a:p>
            <a:pPr algn="l" marL="669289" indent="-334645" lvl="1">
              <a:lnSpc>
                <a:spcPts val="4556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Criação de uma margem de segurança para absorver variações operacionais.</a:t>
            </a:r>
          </a:p>
          <a:p>
            <a:pPr algn="l" marL="669289" indent="-334645" lvl="1">
              <a:lnSpc>
                <a:spcPts val="4556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Definição de limites para orientar o controle do estoque.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3092955"/>
            <a:ext cx="7784637" cy="395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</a:pPr>
            <a:r>
              <a:rPr lang="en-US" b="true" sz="309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Resultado esperado:</a:t>
            </a:r>
          </a:p>
          <a:p>
            <a:pPr algn="l">
              <a:lnSpc>
                <a:spcPts val="4551"/>
              </a:lnSpc>
            </a:pPr>
          </a:p>
          <a:p>
            <a:pPr algn="l" marL="668547" indent="-334274" lvl="1">
              <a:lnSpc>
                <a:spcPts val="4551"/>
              </a:lnSpc>
              <a:buFont typeface="Arial"/>
              <a:buChar char="•"/>
            </a:pPr>
            <a:r>
              <a:rPr lang="en-US" sz="309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Estoque suficiente para atender a produção</a:t>
            </a:r>
          </a:p>
          <a:p>
            <a:pPr algn="l" marL="668547" indent="-334274" lvl="1">
              <a:lnSpc>
                <a:spcPts val="4551"/>
              </a:lnSpc>
              <a:buFont typeface="Arial"/>
              <a:buChar char="•"/>
            </a:pPr>
            <a:r>
              <a:rPr lang="en-US" sz="309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Redução do risco de falta de peças</a:t>
            </a:r>
          </a:p>
          <a:p>
            <a:pPr algn="l" marL="668547" indent="-334274" lvl="1">
              <a:lnSpc>
                <a:spcPts val="4551"/>
              </a:lnSpc>
              <a:buFont typeface="Arial"/>
              <a:buChar char="•"/>
            </a:pPr>
            <a:r>
              <a:rPr lang="en-US" sz="309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Melhor aproveitamento do espaço de armazenagem</a:t>
            </a:r>
          </a:p>
        </p:txBody>
      </p:sp>
      <p:sp>
        <p:nvSpPr>
          <p:cNvPr name="AutoShape 12" id="12"/>
          <p:cNvSpPr/>
          <p:nvPr/>
        </p:nvSpPr>
        <p:spPr>
          <a:xfrm flipH="true">
            <a:off x="16571536" y="5366412"/>
            <a:ext cx="4487073" cy="4487073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8199520" y="5508501"/>
            <a:ext cx="2859089" cy="285908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>
            <a:off x="-528232" y="8960632"/>
            <a:ext cx="1383509" cy="138350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-3631798" y="9301144"/>
            <a:ext cx="4487073" cy="4487073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>
            <a:off x="-2003814" y="9443232"/>
            <a:ext cx="2859089" cy="285908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>
            <a:off x="-1791887" y="9197964"/>
            <a:ext cx="2661445" cy="266144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>
            <a:off x="-1078300" y="10025841"/>
            <a:ext cx="1947865" cy="194786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H="true">
            <a:off x="-375832" y="9113032"/>
            <a:ext cx="1383509" cy="138350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>
            <a:off x="-3479398" y="9453544"/>
            <a:ext cx="4487073" cy="4487073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H="true">
            <a:off x="-1851414" y="9595632"/>
            <a:ext cx="2859089" cy="285908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-1639487" y="9350364"/>
            <a:ext cx="2661445" cy="266144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H="true">
            <a:off x="-925900" y="10178241"/>
            <a:ext cx="1947865" cy="194786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H="true">
            <a:off x="16997090" y="-1745101"/>
            <a:ext cx="2859089" cy="285908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H="true">
            <a:off x="17209016" y="-1990369"/>
            <a:ext cx="2661445" cy="266144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>
            <a:off x="17922603" y="-1162492"/>
            <a:ext cx="1947865" cy="194786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>
            <a:off x="17149490" y="-1592701"/>
            <a:ext cx="2859089" cy="285908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>
            <a:off x="17361416" y="-1837969"/>
            <a:ext cx="2661445" cy="266144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18075003" y="-1010092"/>
            <a:ext cx="1947865" cy="194786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2670412" y="-13471"/>
            <a:ext cx="1126818" cy="551523"/>
          </a:xfrm>
          <a:custGeom>
            <a:avLst/>
            <a:gdLst/>
            <a:ahLst/>
            <a:cxnLst/>
            <a:rect r="r" b="b" t="t" l="l"/>
            <a:pathLst>
              <a:path h="551523" w="1126818">
                <a:moveTo>
                  <a:pt x="0" y="0"/>
                </a:moveTo>
                <a:lnTo>
                  <a:pt x="1126818" y="0"/>
                </a:lnTo>
                <a:lnTo>
                  <a:pt x="1126818" y="551523"/>
                </a:lnTo>
                <a:lnTo>
                  <a:pt x="0" y="5515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862614" y="39911"/>
            <a:ext cx="5443183" cy="27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b="true" sz="1969" spc="-106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62614" y="324701"/>
            <a:ext cx="1338411" cy="1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22" spc="-71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7540282" y="-1021102"/>
            <a:ext cx="1383509" cy="138350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15015764" y="-1214836"/>
            <a:ext cx="4487073" cy="4487073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6064700" y="-538501"/>
            <a:ext cx="2859089" cy="285908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16276626" y="-783769"/>
            <a:ext cx="2661445" cy="266144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16990213" y="44108"/>
            <a:ext cx="1947865" cy="194786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191548" y="-101700"/>
            <a:ext cx="7904905" cy="2260800"/>
            <a:chOff x="0" y="0"/>
            <a:chExt cx="10539873" cy="30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39873" cy="3014404"/>
            </a:xfrm>
            <a:custGeom>
              <a:avLst/>
              <a:gdLst/>
              <a:ahLst/>
              <a:cxnLst/>
              <a:rect r="r" b="b" t="t" l="l"/>
              <a:pathLst>
                <a:path h="3014404" w="10539873">
                  <a:moveTo>
                    <a:pt x="0" y="0"/>
                  </a:moveTo>
                  <a:lnTo>
                    <a:pt x="10539873" y="0"/>
                  </a:lnTo>
                  <a:lnTo>
                    <a:pt x="10539873" y="3014404"/>
                  </a:lnTo>
                  <a:lnTo>
                    <a:pt x="0" y="30144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32" r="-61945" b="-6033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539873" cy="30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CONTROLE DE ESTOQUE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76948" y="262291"/>
            <a:ext cx="2549074" cy="1223553"/>
            <a:chOff x="0" y="0"/>
            <a:chExt cx="4467022" cy="2144166"/>
          </a:xfrm>
        </p:grpSpPr>
        <p:sp>
          <p:nvSpPr>
            <p:cNvPr name="Freeform 11" id="11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68280" y="6983838"/>
            <a:ext cx="13888530" cy="1279652"/>
            <a:chOff x="0" y="0"/>
            <a:chExt cx="18518040" cy="17062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517989" cy="1706253"/>
            </a:xfrm>
            <a:custGeom>
              <a:avLst/>
              <a:gdLst/>
              <a:ahLst/>
              <a:cxnLst/>
              <a:rect r="r" b="b" t="t" l="l"/>
              <a:pathLst>
                <a:path h="1706253" w="18517989">
                  <a:moveTo>
                    <a:pt x="0" y="0"/>
                  </a:moveTo>
                  <a:lnTo>
                    <a:pt x="18517989" y="0"/>
                  </a:lnTo>
                  <a:lnTo>
                    <a:pt x="18517989" y="1706253"/>
                  </a:lnTo>
                  <a:lnTo>
                    <a:pt x="0" y="1706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64506" r="0" b="-22337"/>
              </a:stretch>
            </a:blipFill>
          </p:spPr>
        </p:sp>
      </p:grpSp>
      <p:sp>
        <p:nvSpPr>
          <p:cNvPr name="AutoShape 14" id="14"/>
          <p:cNvSpPr/>
          <p:nvPr/>
        </p:nvSpPr>
        <p:spPr>
          <a:xfrm flipH="true">
            <a:off x="71816" y="8610653"/>
            <a:ext cx="1383509" cy="138350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-3461740" y="9624075"/>
            <a:ext cx="4487073" cy="4487073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>
            <a:off x="-1199391" y="8857455"/>
            <a:ext cx="2859089" cy="285908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>
            <a:off x="-1450334" y="8956278"/>
            <a:ext cx="2661445" cy="266144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>
            <a:off x="-489172" y="9302408"/>
            <a:ext cx="1947865" cy="194786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H="true">
            <a:off x="224216" y="8763053"/>
            <a:ext cx="1383509" cy="1383509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>
            <a:off x="0" y="8071299"/>
            <a:ext cx="1720455" cy="1922864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3291005" y="2981643"/>
            <a:ext cx="11705990" cy="3562693"/>
          </a:xfrm>
          <a:custGeom>
            <a:avLst/>
            <a:gdLst/>
            <a:ahLst/>
            <a:cxnLst/>
            <a:rect r="r" b="b" t="t" l="l"/>
            <a:pathLst>
              <a:path h="3562693" w="11705990">
                <a:moveTo>
                  <a:pt x="0" y="0"/>
                </a:moveTo>
                <a:lnTo>
                  <a:pt x="11705990" y="0"/>
                </a:lnTo>
                <a:lnTo>
                  <a:pt x="11705990" y="3562692"/>
                </a:lnTo>
                <a:lnTo>
                  <a:pt x="0" y="3562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2000"/>
            </a:blip>
            <a:stretch>
              <a:fillRect l="0" t="0" r="0" b="0"/>
            </a:stretch>
          </a:blipFill>
          <a:ln w="38100" cap="sq">
            <a:solidFill>
              <a:srgbClr val="000000">
                <a:alpha val="81961"/>
              </a:srgbClr>
            </a:solidFill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2670412" y="-13471"/>
            <a:ext cx="1126818" cy="551523"/>
          </a:xfrm>
          <a:custGeom>
            <a:avLst/>
            <a:gdLst/>
            <a:ahLst/>
            <a:cxnLst/>
            <a:rect r="r" b="b" t="t" l="l"/>
            <a:pathLst>
              <a:path h="551523" w="1126818">
                <a:moveTo>
                  <a:pt x="0" y="0"/>
                </a:moveTo>
                <a:lnTo>
                  <a:pt x="1126818" y="0"/>
                </a:lnTo>
                <a:lnTo>
                  <a:pt x="1126818" y="551523"/>
                </a:lnTo>
                <a:lnTo>
                  <a:pt x="0" y="5515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862614" y="39911"/>
            <a:ext cx="5443183" cy="27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b="true" sz="1969" spc="-106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862614" y="324701"/>
            <a:ext cx="1338411" cy="1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22" spc="-71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593585" y="166046"/>
            <a:ext cx="9878200" cy="2260800"/>
            <a:chOff x="0" y="0"/>
            <a:chExt cx="13170933" cy="30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70932" cy="3014404"/>
            </a:xfrm>
            <a:custGeom>
              <a:avLst/>
              <a:gdLst/>
              <a:ahLst/>
              <a:cxnLst/>
              <a:rect r="r" b="b" t="t" l="l"/>
              <a:pathLst>
                <a:path h="3014404" w="13170932">
                  <a:moveTo>
                    <a:pt x="0" y="0"/>
                  </a:moveTo>
                  <a:lnTo>
                    <a:pt x="13170932" y="0"/>
                  </a:lnTo>
                  <a:lnTo>
                    <a:pt x="13170932" y="3014404"/>
                  </a:lnTo>
                  <a:lnTo>
                    <a:pt x="0" y="30144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32" r="-29594" b="-6033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3170933" cy="30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92"/>
                </a:lnSpc>
              </a:pPr>
              <a:r>
                <a:rPr lang="en-US" sz="4660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</a:t>
              </a:r>
              <a:r>
                <a:rPr lang="en-US" b="true" sz="466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ACABAMENTO - CENÁRIO ATUAL</a:t>
              </a:r>
            </a:p>
            <a:p>
              <a:pPr algn="ctr">
                <a:lnSpc>
                  <a:spcPts val="5592"/>
                </a:lnSpc>
              </a:pPr>
              <a:r>
                <a:rPr lang="en-US" b="true" sz="466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LAYOUT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426846"/>
            <a:ext cx="16230600" cy="7421856"/>
            <a:chOff x="0" y="0"/>
            <a:chExt cx="22901146" cy="104721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901210" cy="10472080"/>
            </a:xfrm>
            <a:custGeom>
              <a:avLst/>
              <a:gdLst/>
              <a:ahLst/>
              <a:cxnLst/>
              <a:rect r="r" b="b" t="t" l="l"/>
              <a:pathLst>
                <a:path h="10472080" w="22901210">
                  <a:moveTo>
                    <a:pt x="0" y="0"/>
                  </a:moveTo>
                  <a:lnTo>
                    <a:pt x="22901210" y="0"/>
                  </a:lnTo>
                  <a:lnTo>
                    <a:pt x="22901210" y="10472080"/>
                  </a:lnTo>
                  <a:lnTo>
                    <a:pt x="0" y="10472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86" t="0" r="-38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76948" y="262291"/>
            <a:ext cx="2549074" cy="1223553"/>
            <a:chOff x="0" y="0"/>
            <a:chExt cx="4467022" cy="2144166"/>
          </a:xfrm>
        </p:grpSpPr>
        <p:sp>
          <p:nvSpPr>
            <p:cNvPr name="Freeform 13" id="13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670412" y="-13471"/>
            <a:ext cx="1126818" cy="551523"/>
          </a:xfrm>
          <a:custGeom>
            <a:avLst/>
            <a:gdLst/>
            <a:ahLst/>
            <a:cxnLst/>
            <a:rect r="r" b="b" t="t" l="l"/>
            <a:pathLst>
              <a:path h="551523" w="1126818">
                <a:moveTo>
                  <a:pt x="0" y="0"/>
                </a:moveTo>
                <a:lnTo>
                  <a:pt x="1126818" y="0"/>
                </a:lnTo>
                <a:lnTo>
                  <a:pt x="1126818" y="551523"/>
                </a:lnTo>
                <a:lnTo>
                  <a:pt x="0" y="551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62614" y="39911"/>
            <a:ext cx="5443183" cy="27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b="true" sz="1969" spc="-106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62614" y="324701"/>
            <a:ext cx="1338411" cy="1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22" spc="-71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76948" y="262291"/>
            <a:ext cx="2549074" cy="1223553"/>
            <a:chOff x="0" y="0"/>
            <a:chExt cx="4467022" cy="2144166"/>
          </a:xfrm>
        </p:grpSpPr>
        <p:sp>
          <p:nvSpPr>
            <p:cNvPr name="Freeform 8" id="8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593585" y="166046"/>
            <a:ext cx="9878200" cy="2260800"/>
            <a:chOff x="0" y="0"/>
            <a:chExt cx="13170933" cy="30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70932" cy="3014404"/>
            </a:xfrm>
            <a:custGeom>
              <a:avLst/>
              <a:gdLst/>
              <a:ahLst/>
              <a:cxnLst/>
              <a:rect r="r" b="b" t="t" l="l"/>
              <a:pathLst>
                <a:path h="3014404" w="13170932">
                  <a:moveTo>
                    <a:pt x="0" y="0"/>
                  </a:moveTo>
                  <a:lnTo>
                    <a:pt x="13170932" y="0"/>
                  </a:lnTo>
                  <a:lnTo>
                    <a:pt x="13170932" y="3014404"/>
                  </a:lnTo>
                  <a:lnTo>
                    <a:pt x="0" y="3014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332" r="-29594" b="-6033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3170933" cy="30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92"/>
                </a:lnSpc>
              </a:pPr>
              <a:r>
                <a:rPr lang="en-US" sz="4660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</a:t>
              </a:r>
              <a:r>
                <a:rPr lang="en-US" b="true" sz="466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ACABAMENTO - CENÁRIO ATUAL</a:t>
              </a:r>
            </a:p>
            <a:p>
              <a:pPr algn="ctr">
                <a:lnSpc>
                  <a:spcPts val="5592"/>
                </a:lnSpc>
              </a:pPr>
              <a:r>
                <a:rPr lang="en-US" b="true" sz="466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LAYOUT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2455482"/>
            <a:ext cx="16230600" cy="7393220"/>
            <a:chOff x="0" y="0"/>
            <a:chExt cx="21446554" cy="97691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46489" cy="9769146"/>
            </a:xfrm>
            <a:custGeom>
              <a:avLst/>
              <a:gdLst/>
              <a:ahLst/>
              <a:cxnLst/>
              <a:rect r="r" b="b" t="t" l="l"/>
              <a:pathLst>
                <a:path h="9769146" w="21446489">
                  <a:moveTo>
                    <a:pt x="0" y="0"/>
                  </a:moveTo>
                  <a:lnTo>
                    <a:pt x="21446489" y="0"/>
                  </a:lnTo>
                  <a:lnTo>
                    <a:pt x="21446489" y="9769146"/>
                  </a:lnTo>
                  <a:lnTo>
                    <a:pt x="0" y="9769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2" t="0" r="-19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072871" y="7700307"/>
            <a:ext cx="576676" cy="1013061"/>
            <a:chOff x="0" y="0"/>
            <a:chExt cx="762000" cy="13386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0" cy="1338623"/>
            </a:xfrm>
            <a:custGeom>
              <a:avLst/>
              <a:gdLst/>
              <a:ahLst/>
              <a:cxnLst/>
              <a:rect r="r" b="b" t="t" l="l"/>
              <a:pathLst>
                <a:path h="1338623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1338623"/>
                  </a:lnTo>
                  <a:lnTo>
                    <a:pt x="0" y="1338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2" t="0" r="-192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2670412" y="-13471"/>
            <a:ext cx="1126818" cy="551523"/>
          </a:xfrm>
          <a:custGeom>
            <a:avLst/>
            <a:gdLst/>
            <a:ahLst/>
            <a:cxnLst/>
            <a:rect r="r" b="b" t="t" l="l"/>
            <a:pathLst>
              <a:path h="551523" w="1126818">
                <a:moveTo>
                  <a:pt x="0" y="0"/>
                </a:moveTo>
                <a:lnTo>
                  <a:pt x="1126818" y="0"/>
                </a:lnTo>
                <a:lnTo>
                  <a:pt x="1126818" y="551523"/>
                </a:lnTo>
                <a:lnTo>
                  <a:pt x="0" y="5515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862614" y="39911"/>
            <a:ext cx="5443183" cy="27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b="true" sz="1969" spc="-106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62614" y="324701"/>
            <a:ext cx="1338411" cy="1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22" spc="-71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11337" y="2269122"/>
            <a:ext cx="16523970" cy="7498051"/>
            <a:chOff x="0" y="0"/>
            <a:chExt cx="22031960" cy="99974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31961" cy="9997440"/>
            </a:xfrm>
            <a:custGeom>
              <a:avLst/>
              <a:gdLst/>
              <a:ahLst/>
              <a:cxnLst/>
              <a:rect r="r" b="b" t="t" l="l"/>
              <a:pathLst>
                <a:path h="9997440" w="22031961">
                  <a:moveTo>
                    <a:pt x="0" y="0"/>
                  </a:moveTo>
                  <a:lnTo>
                    <a:pt x="22031961" y="0"/>
                  </a:lnTo>
                  <a:lnTo>
                    <a:pt x="22031961" y="9997440"/>
                  </a:lnTo>
                  <a:lnTo>
                    <a:pt x="0" y="9997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76948" y="262291"/>
            <a:ext cx="2549074" cy="1223553"/>
            <a:chOff x="0" y="0"/>
            <a:chExt cx="4467022" cy="2144166"/>
          </a:xfrm>
        </p:grpSpPr>
        <p:sp>
          <p:nvSpPr>
            <p:cNvPr name="Freeform 10" id="10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204900" y="414510"/>
            <a:ext cx="9878200" cy="2368252"/>
            <a:chOff x="0" y="0"/>
            <a:chExt cx="13170933" cy="3157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70932" cy="3157674"/>
            </a:xfrm>
            <a:custGeom>
              <a:avLst/>
              <a:gdLst/>
              <a:ahLst/>
              <a:cxnLst/>
              <a:rect r="r" b="b" t="t" l="l"/>
              <a:pathLst>
                <a:path h="3157674" w="13170932">
                  <a:moveTo>
                    <a:pt x="0" y="0"/>
                  </a:moveTo>
                  <a:lnTo>
                    <a:pt x="13170932" y="0"/>
                  </a:lnTo>
                  <a:lnTo>
                    <a:pt x="13170932" y="3157674"/>
                  </a:lnTo>
                  <a:lnTo>
                    <a:pt x="0" y="31576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595" r="-29594" b="-5305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3170933" cy="3148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92"/>
                </a:lnSpc>
              </a:pPr>
              <a:r>
                <a:rPr lang="en-US" sz="4660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</a:t>
              </a:r>
              <a:r>
                <a:rPr lang="en-US" b="true" sz="466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CENÁRIO FUTURO </a:t>
              </a:r>
            </a:p>
            <a:p>
              <a:pPr algn="ctr">
                <a:lnSpc>
                  <a:spcPts val="5592"/>
                </a:lnSpc>
              </a:pPr>
              <a:r>
                <a:rPr lang="en-US" b="true" sz="466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IDEIA 1 - CONSERVADORA</a:t>
              </a:r>
            </a:p>
            <a:p>
              <a:pPr algn="ctr">
                <a:lnSpc>
                  <a:spcPts val="5592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670412" y="-13471"/>
            <a:ext cx="1126818" cy="551523"/>
          </a:xfrm>
          <a:custGeom>
            <a:avLst/>
            <a:gdLst/>
            <a:ahLst/>
            <a:cxnLst/>
            <a:rect r="r" b="b" t="t" l="l"/>
            <a:pathLst>
              <a:path h="551523" w="1126818">
                <a:moveTo>
                  <a:pt x="0" y="0"/>
                </a:moveTo>
                <a:lnTo>
                  <a:pt x="1126818" y="0"/>
                </a:lnTo>
                <a:lnTo>
                  <a:pt x="1126818" y="551523"/>
                </a:lnTo>
                <a:lnTo>
                  <a:pt x="0" y="551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62614" y="39911"/>
            <a:ext cx="5443183" cy="27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b="true" sz="1969" spc="-106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62614" y="324701"/>
            <a:ext cx="1338411" cy="1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22" spc="-71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24729" y="2335463"/>
            <a:ext cx="16804948" cy="7805585"/>
            <a:chOff x="0" y="0"/>
            <a:chExt cx="22406597" cy="104074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06611" cy="10407396"/>
            </a:xfrm>
            <a:custGeom>
              <a:avLst/>
              <a:gdLst/>
              <a:ahLst/>
              <a:cxnLst/>
              <a:rect r="r" b="b" t="t" l="l"/>
              <a:pathLst>
                <a:path h="10407396" w="22406611">
                  <a:moveTo>
                    <a:pt x="0" y="0"/>
                  </a:moveTo>
                  <a:lnTo>
                    <a:pt x="22406611" y="0"/>
                  </a:lnTo>
                  <a:lnTo>
                    <a:pt x="22406611" y="10407396"/>
                  </a:lnTo>
                  <a:lnTo>
                    <a:pt x="0" y="10407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91" t="0" r="-119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76948" y="262291"/>
            <a:ext cx="2549074" cy="1223553"/>
            <a:chOff x="0" y="0"/>
            <a:chExt cx="4467022" cy="2144166"/>
          </a:xfrm>
        </p:grpSpPr>
        <p:sp>
          <p:nvSpPr>
            <p:cNvPr name="Freeform 10" id="10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188103" y="414510"/>
            <a:ext cx="9878200" cy="2368252"/>
            <a:chOff x="0" y="0"/>
            <a:chExt cx="13170933" cy="3157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70932" cy="3157674"/>
            </a:xfrm>
            <a:custGeom>
              <a:avLst/>
              <a:gdLst/>
              <a:ahLst/>
              <a:cxnLst/>
              <a:rect r="r" b="b" t="t" l="l"/>
              <a:pathLst>
                <a:path h="3157674" w="13170932">
                  <a:moveTo>
                    <a:pt x="0" y="0"/>
                  </a:moveTo>
                  <a:lnTo>
                    <a:pt x="13170932" y="0"/>
                  </a:lnTo>
                  <a:lnTo>
                    <a:pt x="13170932" y="3157674"/>
                  </a:lnTo>
                  <a:lnTo>
                    <a:pt x="0" y="31576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595" r="-29594" b="-5305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3170933" cy="3148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92"/>
                </a:lnSpc>
              </a:pPr>
              <a:r>
                <a:rPr lang="en-US" sz="4660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</a:t>
              </a:r>
              <a:r>
                <a:rPr lang="en-US" b="true" sz="466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CENÁRIO FUTURO </a:t>
              </a:r>
            </a:p>
            <a:p>
              <a:pPr algn="ctr">
                <a:lnSpc>
                  <a:spcPts val="5592"/>
                </a:lnSpc>
              </a:pPr>
              <a:r>
                <a:rPr lang="en-US" b="true" sz="466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IDEIA 2 - AGRESSIVA</a:t>
              </a:r>
            </a:p>
            <a:p>
              <a:pPr algn="ctr">
                <a:lnSpc>
                  <a:spcPts val="5592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670412" y="-13471"/>
            <a:ext cx="1126818" cy="551523"/>
          </a:xfrm>
          <a:custGeom>
            <a:avLst/>
            <a:gdLst/>
            <a:ahLst/>
            <a:cxnLst/>
            <a:rect r="r" b="b" t="t" l="l"/>
            <a:pathLst>
              <a:path h="551523" w="1126818">
                <a:moveTo>
                  <a:pt x="0" y="0"/>
                </a:moveTo>
                <a:lnTo>
                  <a:pt x="1126818" y="0"/>
                </a:lnTo>
                <a:lnTo>
                  <a:pt x="1126818" y="551523"/>
                </a:lnTo>
                <a:lnTo>
                  <a:pt x="0" y="551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62614" y="39911"/>
            <a:ext cx="5443183" cy="27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b="true" sz="1969" spc="-106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62614" y="324701"/>
            <a:ext cx="1338411" cy="1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22" spc="-71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743200" y="-101700"/>
            <a:ext cx="12801600" cy="2260800"/>
            <a:chOff x="0" y="0"/>
            <a:chExt cx="17068800" cy="30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3014404"/>
            </a:xfrm>
            <a:custGeom>
              <a:avLst/>
              <a:gdLst/>
              <a:ahLst/>
              <a:cxnLst/>
              <a:rect r="r" b="b" t="t" l="l"/>
              <a:pathLst>
                <a:path h="3014404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3014404"/>
                  </a:lnTo>
                  <a:lnTo>
                    <a:pt x="0" y="30144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32" r="0" b="-6033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7068800" cy="30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CONCLUSÃO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43204" y="2232146"/>
            <a:ext cx="15478496" cy="466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85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Através da análise do fluxo produtivo, do dimensionamento dos estoques e da revisão do layout, foi possível desenvolver propostas que reduzem deslocamentos, melhoram a ergonomia dos operadores e diminuem desperdícios ao longo do processo.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3419"/>
              </a:lnSpc>
            </a:pPr>
            <a:r>
              <a:rPr lang="en-US" sz="285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As alternativas apresentadas contribuem para um fluxo mais eficiente, melhor aproveitamento do espaço físico e maior controle dos estoques intermediários, alinhando o processo aos princípios do Lean Manufacturing.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3419"/>
              </a:lnSpc>
            </a:pPr>
            <a:r>
              <a:rPr lang="en-US" sz="285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Além dos benefícios para a empresa, este projeto permitiu à equipe aplicar conhecimentos técnicos adquiridos durante a graduação, transformando conceitos teóricos em soluções práticas para um ambiente industrial real.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3419"/>
              </a:lnSpc>
            </a:pPr>
            <a:r>
              <a:rPr lang="en-US" sz="285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Dessa forma, concluímos que as melhorias propostas têm potencial para aumentar a produtividade, reduzir custos operacionais e tornar o processo de acabamento mais eficiente e sustentável.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276948" y="262291"/>
            <a:ext cx="2549074" cy="1223553"/>
            <a:chOff x="0" y="0"/>
            <a:chExt cx="4467022" cy="2144166"/>
          </a:xfrm>
        </p:grpSpPr>
        <p:sp>
          <p:nvSpPr>
            <p:cNvPr name="Freeform 12" id="12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670412" y="-13471"/>
            <a:ext cx="1126818" cy="551523"/>
          </a:xfrm>
          <a:custGeom>
            <a:avLst/>
            <a:gdLst/>
            <a:ahLst/>
            <a:cxnLst/>
            <a:rect r="r" b="b" t="t" l="l"/>
            <a:pathLst>
              <a:path h="551523" w="1126818">
                <a:moveTo>
                  <a:pt x="0" y="0"/>
                </a:moveTo>
                <a:lnTo>
                  <a:pt x="1126818" y="0"/>
                </a:lnTo>
                <a:lnTo>
                  <a:pt x="1126818" y="551523"/>
                </a:lnTo>
                <a:lnTo>
                  <a:pt x="0" y="5515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862614" y="39911"/>
            <a:ext cx="5443183" cy="27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b="true" sz="1969" spc="-106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62614" y="324701"/>
            <a:ext cx="1338411" cy="1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22" spc="-71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D2EF">
                <a:alpha val="100000"/>
              </a:srgbClr>
            </a:gs>
            <a:gs pos="10000">
              <a:srgbClr val="62D2EF">
                <a:alpha val="100000"/>
              </a:srgbClr>
            </a:gs>
            <a:gs pos="100000">
              <a:srgbClr val="05578D">
                <a:alpha val="100000"/>
              </a:srgbClr>
            </a:gs>
          </a:gsLst>
          <a:lin ang="61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743200" y="-101700"/>
            <a:ext cx="12801600" cy="2260800"/>
            <a:chOff x="0" y="0"/>
            <a:chExt cx="17068800" cy="30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3014404"/>
            </a:xfrm>
            <a:custGeom>
              <a:avLst/>
              <a:gdLst/>
              <a:ahLst/>
              <a:cxnLst/>
              <a:rect r="r" b="b" t="t" l="l"/>
              <a:pathLst>
                <a:path h="3014404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3014404"/>
                  </a:lnTo>
                  <a:lnTo>
                    <a:pt x="0" y="30144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32" r="0" b="-6033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7068800" cy="30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AGRADECIMENTOS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04752" y="3136263"/>
            <a:ext cx="15478496" cy="472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85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NÓS DA BLAUTECH AGRADECEMOS PROFUNDAMENTE A FREUDENBERG E SUA EQUIPE PELA OPORTUNIDADE QUE NOS FOI DADA, DE ENTRAR NA INDÚSTRIA, ENTENDER SEU PROCESSO PRODUTIVO, ENTENDER COMO ESSA GIGANTE DO RAMO DE FILTROS INDUSTRIAIS E AUTOMOTIVOS TRABALHA E APLICAR OS CONHECIMENTOS QUE ADQUIRIMOS DURANTE A NOSSA FORMAÇÃO, PARA BUSCAR SOLUÇÕES NESTA PARCERIA.</a:t>
            </a:r>
          </a:p>
          <a:p>
            <a:pPr algn="just">
              <a:lnSpc>
                <a:spcPts val="3419"/>
              </a:lnSpc>
            </a:pPr>
          </a:p>
          <a:p>
            <a:pPr algn="just">
              <a:lnSpc>
                <a:spcPts val="3419"/>
              </a:lnSpc>
            </a:pPr>
            <a:r>
              <a:rPr lang="en-US" sz="285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AGRADECEMOS TAMBÉM AO PROFESSOR RODRIGO, QUE TEVE MUITA PACIÊNCIA NAS ANÁLISES E NO DESENVOLVER DO TRABALHO COM OS GRUPOS, PARA QUE FOSSE REALIZADO UM TRABALHO DE EXCELÊNCIA.</a:t>
            </a:r>
          </a:p>
          <a:p>
            <a:pPr algn="just">
              <a:lnSpc>
                <a:spcPts val="3419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276948" y="262291"/>
            <a:ext cx="2549074" cy="1223553"/>
            <a:chOff x="0" y="0"/>
            <a:chExt cx="4467022" cy="2144166"/>
          </a:xfrm>
        </p:grpSpPr>
        <p:sp>
          <p:nvSpPr>
            <p:cNvPr name="Freeform 12" id="12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670412" y="-13471"/>
            <a:ext cx="1126818" cy="551523"/>
          </a:xfrm>
          <a:custGeom>
            <a:avLst/>
            <a:gdLst/>
            <a:ahLst/>
            <a:cxnLst/>
            <a:rect r="r" b="b" t="t" l="l"/>
            <a:pathLst>
              <a:path h="551523" w="1126818">
                <a:moveTo>
                  <a:pt x="0" y="0"/>
                </a:moveTo>
                <a:lnTo>
                  <a:pt x="1126818" y="0"/>
                </a:lnTo>
                <a:lnTo>
                  <a:pt x="1126818" y="551523"/>
                </a:lnTo>
                <a:lnTo>
                  <a:pt x="0" y="5515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862614" y="39911"/>
            <a:ext cx="5443183" cy="27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b="true" sz="1969" spc="-106">
                <a:solidFill>
                  <a:srgbClr val="232932"/>
                </a:solidFill>
                <a:latin typeface="Poppins Bold"/>
                <a:ea typeface="Poppins Bold"/>
                <a:cs typeface="Poppins Bold"/>
                <a:sym typeface="Poppins Bold"/>
              </a:rPr>
              <a:t>FREUDENBERG INNOVATING TOGETHER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62614" y="324701"/>
            <a:ext cx="1338411" cy="1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22" spc="-71">
                <a:solidFill>
                  <a:srgbClr val="232932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7078256" y="9294781"/>
            <a:ext cx="1209744" cy="992219"/>
          </a:xfrm>
          <a:custGeom>
            <a:avLst/>
            <a:gdLst/>
            <a:ahLst/>
            <a:cxnLst/>
            <a:rect r="r" b="b" t="t" l="l"/>
            <a:pathLst>
              <a:path h="992219" w="1209744">
                <a:moveTo>
                  <a:pt x="0" y="0"/>
                </a:moveTo>
                <a:lnTo>
                  <a:pt x="1209744" y="0"/>
                </a:lnTo>
                <a:lnTo>
                  <a:pt x="1209744" y="992219"/>
                </a:lnTo>
                <a:lnTo>
                  <a:pt x="0" y="992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DAHMT4i4Dbo</dc:identifier>
  <dcterms:modified xsi:type="dcterms:W3CDTF">2011-08-01T06:04:30Z</dcterms:modified>
  <cp:revision>1</cp:revision>
  <dc:title>Blautech - Feira de Soluções - Freudenberg</dc:title>
</cp:coreProperties>
</file>